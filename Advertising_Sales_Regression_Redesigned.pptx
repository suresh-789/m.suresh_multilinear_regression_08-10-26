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49a72c0-7451-db5b-de54-40e5bdef6102}">
          <p14:sldIdLst>
            <p14:sldId id="256"/>
            <p14:sldId id="257"/>
            <p14:sldId id="258"/>
            <p14:sldId id="259"/>
          </p14:sldIdLst>
        </p14:section>
        <p14:section name="Method" id="{55668637-8c4a-6519-1e60-8c81d63f11bf}">
          <p14:sldIdLst>
            <p14:sldId id="260"/>
            <p14:sldId id="261"/>
          </p14:sldIdLst>
        </p14:section>
        <p14:section name="Results" id="{1e7d595d-403a-4bc9-be0b-68951eb2eea3}">
          <p14:sldIdLst>
            <p14:sldId id="262"/>
            <p14:sldId id="263"/>
            <p14:sldId id="264"/>
            <p14:sldId id="265"/>
          </p14:sldIdLst>
        </p14:section>
        <p14:section name="Recommendations" id="{724c578d-0217-369c-d3d9-88ef271ac5cc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+mn-lt"/>
              </a:rPr>
              <a:t>Impact of advertising channels on Sales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8F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Newspaper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0.0545</c:v>
                </c:pt>
                <c:pt idx="1">
                  <c:v>0.1009</c:v>
                </c:pt>
                <c:pt idx="2">
                  <c:v>0.0043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B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"/>
          <c:min val="0"/>
        </c:scaling>
        <c:delete val="0"/>
        <c:axPos val="l"/>
        <c:majorGridlines>
          <c:spPr>
            <a:ln w="9525" cap="flat">
              <a:solidFill>
                <a:srgbClr val="E3E1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B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Advertising Sales 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Advertising Sales Prediction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Calibo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Sales Prediction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800" dirty="0"/>
          </a:p>
        </p:txBody>
      </p:sp>
      <p:sp>
        <p:nvSpPr>
          <p:cNvPr id="5" name="Presenter card"/>
          <p:cNvSpPr/>
          <p:nvPr/>
        </p:nvSpPr>
        <p:spPr>
          <a:xfrm>
            <a:off x="548640" y="3383280"/>
            <a:ext cx="4572000" cy="109728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6" name="Presenter circle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7" name="Image 0" descr="Prese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7719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Suresh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2300030390</a:t>
            </a:r>
            <a:endParaRPr lang="en-US" sz="1600" dirty="0"/>
          </a:p>
        </p:txBody>
      </p:sp>
      <p:sp>
        <p:nvSpPr>
          <p:cNvPr id="10" name="Violet circle"/>
          <p:cNvSpPr/>
          <p:nvPr/>
        </p:nvSpPr>
        <p:spPr>
          <a:xfrm>
            <a:off x="5852160" y="822960"/>
            <a:ext cx="2377440" cy="2377440"/>
          </a:xfrm>
          <a:prstGeom prst="ellipse">
            <a:avLst/>
          </a:prstGeom>
          <a:solidFill>
            <a:schemeClr val="accent4">
              <a:alpha val="75000"/>
            </a:schemeClr>
          </a:solidFill>
          <a:ln/>
        </p:spPr>
      </p:sp>
      <p:sp>
        <p:nvSpPr>
          <p:cNvPr id="11" name="Coral circle"/>
          <p:cNvSpPr/>
          <p:nvPr/>
        </p:nvSpPr>
        <p:spPr>
          <a:xfrm>
            <a:off x="6675120" y="1828800"/>
            <a:ext cx="2011680" cy="20116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12" name="Teal circle"/>
          <p:cNvSpPr/>
          <p:nvPr/>
        </p:nvSpPr>
        <p:spPr>
          <a:xfrm>
            <a:off x="6035040" y="2743200"/>
            <a:ext cx="1645920" cy="1645920"/>
          </a:xfrm>
          <a:prstGeom prst="ellipse">
            <a:avLst/>
          </a:prstGeom>
          <a:solidFill>
            <a:schemeClr val="accent2">
              <a:alpha val="75000"/>
            </a:schemeClr>
          </a:solidFill>
          <a:ln/>
        </p:spPr>
      </p:sp>
      <p:pic>
        <p:nvPicPr>
          <p:cNvPr id="13" name="Image 1" descr="Rising line 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402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Advertising Sales Prediction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understand how TV, Radio, and Newspaper advertising influence Sales.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using historical advertising data.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Sales for a planned advertising budget.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Advertising Dataset (200 records, 4 columns).</a:t>
            </a:r>
            <a:endParaRPr lang="en-US" sz="1200" dirty="0"/>
          </a:p>
        </p:txBody>
      </p:sp>
      <p:sp>
        <p:nvSpPr>
          <p:cNvPr id="7" name="TV pill"/>
          <p:cNvSpPr/>
          <p:nvPr/>
        </p:nvSpPr>
        <p:spPr>
          <a:xfrm>
            <a:off x="5943600" y="914400"/>
            <a:ext cx="2651760" cy="822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8" name="TV circle"/>
          <p:cNvSpPr/>
          <p:nvPr/>
        </p:nvSpPr>
        <p:spPr>
          <a:xfrm>
            <a:off x="6035040" y="100584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9" name="Image 0" descr="T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5060" y="11658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0" y="914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2000" dirty="0"/>
          </a:p>
        </p:txBody>
      </p:sp>
      <p:sp>
        <p:nvSpPr>
          <p:cNvPr id="11" name="Radio pill"/>
          <p:cNvSpPr/>
          <p:nvPr/>
        </p:nvSpPr>
        <p:spPr>
          <a:xfrm>
            <a:off x="5943600" y="1965960"/>
            <a:ext cx="2651760" cy="822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2" name="Radio circle"/>
          <p:cNvSpPr/>
          <p:nvPr/>
        </p:nvSpPr>
        <p:spPr>
          <a:xfrm>
            <a:off x="6035040" y="205740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1" descr="Ra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22174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0" y="1965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2000" dirty="0"/>
          </a:p>
        </p:txBody>
      </p:sp>
      <p:sp>
        <p:nvSpPr>
          <p:cNvPr id="15" name="Newspaper pill"/>
          <p:cNvSpPr/>
          <p:nvPr/>
        </p:nvSpPr>
        <p:spPr>
          <a:xfrm>
            <a:off x="5943600" y="3017520"/>
            <a:ext cx="2651760" cy="822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6" name="Newspaper circle"/>
          <p:cNvSpPr/>
          <p:nvPr/>
        </p:nvSpPr>
        <p:spPr>
          <a:xfrm>
            <a:off x="6035040" y="3108960"/>
            <a:ext cx="640080" cy="640080"/>
          </a:xfrm>
          <a:prstGeom prst="ellipse">
            <a:avLst/>
          </a:prstGeom>
          <a:solidFill>
            <a:srgbClr val="8D8FB5"/>
          </a:solidFill>
          <a:ln/>
        </p:spPr>
      </p:sp>
      <p:pic>
        <p:nvPicPr>
          <p:cNvPr id="17" name="Image 2" descr="Newspa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32689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580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2000" dirty="0"/>
          </a:p>
        </p:txBody>
      </p:sp>
      <p:sp>
        <p:nvSpPr>
          <p:cNvPr id="19" name="Sales pill"/>
          <p:cNvSpPr/>
          <p:nvPr/>
        </p:nvSpPr>
        <p:spPr>
          <a:xfrm>
            <a:off x="5943600" y="4069080"/>
            <a:ext cx="2651760" cy="685800"/>
          </a:xfrm>
          <a:prstGeom prst="roundRect">
            <a:avLst>
              <a:gd name="adj" fmla="val 49333"/>
            </a:avLst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943600" y="4069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Sales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Problem</a:t>
            </a:r>
            <a:endParaRPr lang="en-US" sz="3400" dirty="0"/>
          </a:p>
        </p:txBody>
      </p:sp>
      <p:sp>
        <p:nvSpPr>
          <p:cNvPr id="3" name="Question 1"/>
          <p:cNvSpPr/>
          <p:nvPr/>
        </p:nvSpPr>
        <p:spPr>
          <a:xfrm>
            <a:off x="548640" y="128016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Number 1"/>
          <p:cNvSpPr/>
          <p:nvPr/>
        </p:nvSpPr>
        <p:spPr>
          <a:xfrm>
            <a:off x="713232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different advertising channels together influence product Sales?</a:t>
            </a:r>
            <a:endParaRPr lang="en-US" sz="1600" dirty="0"/>
          </a:p>
        </p:txBody>
      </p:sp>
      <p:sp>
        <p:nvSpPr>
          <p:cNvPr id="7" name="Question 2"/>
          <p:cNvSpPr/>
          <p:nvPr/>
        </p:nvSpPr>
        <p:spPr>
          <a:xfrm>
            <a:off x="548640" y="1956816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Number 2"/>
          <p:cNvSpPr/>
          <p:nvPr/>
        </p:nvSpPr>
        <p:spPr>
          <a:xfrm>
            <a:off x="713232" y="20482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95681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Sales be predicted from planned advertising expenditure?</a:t>
            </a:r>
            <a:endParaRPr lang="en-US" sz="1600" dirty="0"/>
          </a:p>
        </p:txBody>
      </p:sp>
      <p:sp>
        <p:nvSpPr>
          <p:cNvPr id="11" name="Question 3"/>
          <p:cNvSpPr/>
          <p:nvPr/>
        </p:nvSpPr>
        <p:spPr>
          <a:xfrm>
            <a:off x="548640" y="2633472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Number 3"/>
          <p:cNvSpPr/>
          <p:nvPr/>
        </p:nvSpPr>
        <p:spPr>
          <a:xfrm>
            <a:off x="713232" y="27249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63347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advertising medium has the strongest estimated impact?</a:t>
            </a:r>
            <a:endParaRPr lang="en-US" sz="1600" dirty="0"/>
          </a:p>
        </p:txBody>
      </p:sp>
      <p:sp>
        <p:nvSpPr>
          <p:cNvPr id="15" name="Question 4"/>
          <p:cNvSpPr/>
          <p:nvPr/>
        </p:nvSpPr>
        <p:spPr>
          <a:xfrm>
            <a:off x="548640" y="3310128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Number 4"/>
          <p:cNvSpPr/>
          <p:nvPr/>
        </p:nvSpPr>
        <p:spPr>
          <a:xfrm>
            <a:off x="713232" y="34015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3101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medium has the least estimated impact?</a:t>
            </a:r>
            <a:endParaRPr lang="en-US" sz="1600" dirty="0"/>
          </a:p>
        </p:txBody>
      </p:sp>
      <p:sp>
        <p:nvSpPr>
          <p:cNvPr id="19" name="Question 5"/>
          <p:cNvSpPr/>
          <p:nvPr/>
        </p:nvSpPr>
        <p:spPr>
          <a:xfrm>
            <a:off x="548640" y="3986784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0" name="Number 5"/>
          <p:cNvSpPr/>
          <p:nvPr/>
        </p:nvSpPr>
        <p:spPr>
          <a:xfrm>
            <a:off x="713232" y="40782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98678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the predictive model?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 and Variables</a:t>
            </a:r>
            <a:endParaRPr lang="en-US" sz="3400" dirty="0"/>
          </a:p>
        </p:txBody>
      </p:sp>
      <p:sp>
        <p:nvSpPr>
          <p:cNvPr id="3" name="Stat Rows"/>
          <p:cNvSpPr/>
          <p:nvPr/>
        </p:nvSpPr>
        <p:spPr>
          <a:xfrm>
            <a:off x="5486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400" dirty="0"/>
          </a:p>
        </p:txBody>
      </p:sp>
      <p:sp>
        <p:nvSpPr>
          <p:cNvPr id="6" name="Stat Columns"/>
          <p:cNvSpPr/>
          <p:nvPr/>
        </p:nvSpPr>
        <p:spPr>
          <a:xfrm>
            <a:off x="26060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8892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9" name="Stat Missing values in all columns"/>
          <p:cNvSpPr/>
          <p:nvPr/>
        </p:nvSpPr>
        <p:spPr>
          <a:xfrm>
            <a:off x="46634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all columns</a:t>
            </a:r>
            <a:endParaRPr lang="en-US" sz="1400" dirty="0"/>
          </a:p>
        </p:txBody>
      </p:sp>
      <p:sp>
        <p:nvSpPr>
          <p:cNvPr id="12" name="Stat All variables numerical"/>
          <p:cNvSpPr/>
          <p:nvPr/>
        </p:nvSpPr>
        <p:spPr>
          <a:xfrm>
            <a:off x="67208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03720" y="14173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float64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numerical</a:t>
            </a:r>
            <a:endParaRPr lang="en-US" sz="1400" dirty="0"/>
          </a:p>
        </p:txBody>
      </p:sp>
      <p:sp>
        <p:nvSpPr>
          <p:cNvPr id="15" name="Input features panel"/>
          <p:cNvSpPr/>
          <p:nvPr/>
        </p:nvSpPr>
        <p:spPr>
          <a:xfrm>
            <a:off x="548640" y="3108960"/>
            <a:ext cx="49377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(X)</a:t>
            </a:r>
            <a:endParaRPr lang="en-US" sz="1200" dirty="0"/>
          </a:p>
        </p:txBody>
      </p:sp>
      <p:sp>
        <p:nvSpPr>
          <p:cNvPr id="17" name="TV chip"/>
          <p:cNvSpPr/>
          <p:nvPr/>
        </p:nvSpPr>
        <p:spPr>
          <a:xfrm>
            <a:off x="777240" y="3657600"/>
            <a:ext cx="1005840" cy="640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657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600" dirty="0"/>
          </a:p>
        </p:txBody>
      </p:sp>
      <p:sp>
        <p:nvSpPr>
          <p:cNvPr id="19" name="Radio chip"/>
          <p:cNvSpPr/>
          <p:nvPr/>
        </p:nvSpPr>
        <p:spPr>
          <a:xfrm>
            <a:off x="1965960" y="3657600"/>
            <a:ext cx="118872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65960" y="3657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600" dirty="0"/>
          </a:p>
        </p:txBody>
      </p:sp>
      <p:sp>
        <p:nvSpPr>
          <p:cNvPr id="21" name="Newspaper chip"/>
          <p:cNvSpPr/>
          <p:nvPr/>
        </p:nvSpPr>
        <p:spPr>
          <a:xfrm>
            <a:off x="3246120" y="3657600"/>
            <a:ext cx="1554480" cy="640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46120" y="3657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1600" dirty="0"/>
          </a:p>
        </p:txBody>
      </p:sp>
      <p:sp>
        <p:nvSpPr>
          <p:cNvPr id="23" name="Target panel"/>
          <p:cNvSpPr/>
          <p:nvPr/>
        </p:nvSpPr>
        <p:spPr>
          <a:xfrm>
            <a:off x="5669280" y="310896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9788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(y)</a:t>
            </a:r>
            <a:endParaRPr lang="en-US" sz="1200" dirty="0"/>
          </a:p>
        </p:txBody>
      </p:sp>
      <p:sp>
        <p:nvSpPr>
          <p:cNvPr id="25" name="Sales chip"/>
          <p:cNvSpPr/>
          <p:nvPr/>
        </p:nvSpPr>
        <p:spPr>
          <a:xfrm>
            <a:off x="5897880" y="3657600"/>
            <a:ext cx="1371600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97880" y="3657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Machine Learning Workflow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inspect the dataset</a:t>
            </a:r>
            <a:endParaRPr 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26060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889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X and y</a:t>
            </a:r>
            <a:endParaRPr lang="en-US" sz="1400" dirty="0"/>
          </a:p>
        </p:txBody>
      </p:sp>
      <p:sp>
        <p:nvSpPr>
          <p:cNvPr id="9" name="Step 3"/>
          <p:cNvSpPr/>
          <p:nvPr/>
        </p:nvSpPr>
        <p:spPr>
          <a:xfrm>
            <a:off x="46634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80% training and 20% testing</a:t>
            </a:r>
            <a:endParaRPr lang="en-US" sz="1400" dirty="0"/>
          </a:p>
        </p:txBody>
      </p:sp>
      <p:sp>
        <p:nvSpPr>
          <p:cNvPr id="12" name="Step 4"/>
          <p:cNvSpPr/>
          <p:nvPr/>
        </p:nvSpPr>
        <p:spPr>
          <a:xfrm>
            <a:off x="67208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037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Multiple Linear Regression model</a:t>
            </a:r>
            <a:endParaRPr lang="en-US" sz="1400" dirty="0"/>
          </a:p>
        </p:txBody>
      </p:sp>
      <p:sp>
        <p:nvSpPr>
          <p:cNvPr id="15" name="Step 5"/>
          <p:cNvSpPr/>
          <p:nvPr/>
        </p:nvSpPr>
        <p:spPr>
          <a:xfrm>
            <a:off x="5486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 on historical data</a:t>
            </a:r>
            <a:endParaRPr lang="en-US" sz="1400" dirty="0"/>
          </a:p>
        </p:txBody>
      </p:sp>
      <p:sp>
        <p:nvSpPr>
          <p:cNvPr id="18" name="Step 6"/>
          <p:cNvSpPr/>
          <p:nvPr/>
        </p:nvSpPr>
        <p:spPr>
          <a:xfrm>
            <a:off x="26060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78892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unseen test data</a:t>
            </a:r>
            <a:endParaRPr lang="en-US" sz="1400" dirty="0"/>
          </a:p>
        </p:txBody>
      </p:sp>
      <p:sp>
        <p:nvSpPr>
          <p:cNvPr id="21" name="Step 7"/>
          <p:cNvSpPr/>
          <p:nvPr/>
        </p:nvSpPr>
        <p:spPr>
          <a:xfrm>
            <a:off x="46634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4632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using MSE, RMSE, MAE, and R²</a:t>
            </a:r>
            <a:endParaRPr lang="en-US" sz="1400" dirty="0"/>
          </a:p>
        </p:txBody>
      </p:sp>
      <p:sp>
        <p:nvSpPr>
          <p:cNvPr id="24" name="Step 8"/>
          <p:cNvSpPr/>
          <p:nvPr/>
        </p:nvSpPr>
        <p:spPr>
          <a:xfrm>
            <a:off x="67208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90372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Sales for the planned advertising budget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Multiple Linear Regression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the relationship between the three advertising channels and Sales.</a:t>
            </a:r>
            <a:endParaRPr lang="en-US" sz="1600" dirty="0"/>
          </a:p>
        </p:txBody>
      </p:sp>
      <p:sp>
        <p:nvSpPr>
          <p:cNvPr id="4" name="Equation card"/>
          <p:cNvSpPr/>
          <p:nvPr/>
        </p:nvSpPr>
        <p:spPr>
          <a:xfrm>
            <a:off x="548640" y="1737360"/>
            <a:ext cx="804672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EQUATION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= </a:t>
            </a:r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4.7141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2000" b="1" dirty="0">
                <a:solidFill>
                  <a:srgbClr val="9A9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0.0545(TV)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0.1009(Radio)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0.0043(Newspaper)</a:t>
            </a:r>
            <a:endParaRPr lang="en-US" sz="2000" dirty="0"/>
          </a:p>
        </p:txBody>
      </p:sp>
      <p:sp>
        <p:nvSpPr>
          <p:cNvPr id="7" name="Intercept tile"/>
          <p:cNvSpPr/>
          <p:nvPr/>
        </p:nvSpPr>
        <p:spPr>
          <a:xfrm>
            <a:off x="548640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4.7141</a:t>
            </a:r>
            <a:endParaRPr lang="en-US" sz="3600" dirty="0"/>
          </a:p>
        </p:txBody>
      </p:sp>
      <p:sp>
        <p:nvSpPr>
          <p:cNvPr id="10" name="TV tile"/>
          <p:cNvSpPr/>
          <p:nvPr/>
        </p:nvSpPr>
        <p:spPr>
          <a:xfrm>
            <a:off x="2606040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7889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coefficient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657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0.0545</a:t>
            </a:r>
            <a:endParaRPr lang="en-US" sz="3600" dirty="0"/>
          </a:p>
        </p:txBody>
      </p:sp>
      <p:sp>
        <p:nvSpPr>
          <p:cNvPr id="13" name="Radio tile"/>
          <p:cNvSpPr/>
          <p:nvPr/>
        </p:nvSpPr>
        <p:spPr>
          <a:xfrm>
            <a:off x="4663440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coefficient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0.1009</a:t>
            </a:r>
            <a:endParaRPr lang="en-US" sz="3600" dirty="0"/>
          </a:p>
        </p:txBody>
      </p:sp>
      <p:sp>
        <p:nvSpPr>
          <p:cNvPr id="16" name="Newspaper tile"/>
          <p:cNvSpPr/>
          <p:nvPr/>
        </p:nvSpPr>
        <p:spPr>
          <a:xfrm>
            <a:off x="6720840" y="32004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coefficient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657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0.0043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Coefficients</a:t>
            </a:r>
            <a:endParaRPr lang="en-US" sz="3400" dirty="0"/>
          </a:p>
        </p:txBody>
      </p:sp>
      <p:sp>
        <p:nvSpPr>
          <p:cNvPr id="3" name="Chart card"/>
          <p:cNvSpPr/>
          <p:nvPr/>
        </p:nvSpPr>
        <p:spPr>
          <a:xfrm>
            <a:off x="548640" y="1280160"/>
            <a:ext cx="49377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85800" y="137160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V"/>
          <p:cNvSpPr/>
          <p:nvPr/>
        </p:nvSpPr>
        <p:spPr>
          <a:xfrm>
            <a:off x="5760720" y="1280160"/>
            <a:ext cx="283464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6" name="TV dot"/>
          <p:cNvSpPr/>
          <p:nvPr/>
        </p:nvSpPr>
        <p:spPr>
          <a:xfrm>
            <a:off x="5897880" y="141732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2801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0.0545</a:t>
            </a:r>
            <a:endParaRPr lang="en-US" sz="1600" dirty="0"/>
          </a:p>
        </p:txBody>
      </p:sp>
      <p:sp>
        <p:nvSpPr>
          <p:cNvPr id="9" name="Radio"/>
          <p:cNvSpPr/>
          <p:nvPr/>
        </p:nvSpPr>
        <p:spPr>
          <a:xfrm>
            <a:off x="5760720" y="1874520"/>
            <a:ext cx="283464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Radio dot"/>
          <p:cNvSpPr/>
          <p:nvPr/>
        </p:nvSpPr>
        <p:spPr>
          <a:xfrm>
            <a:off x="5897880" y="201168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6364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18745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0.1009</a:t>
            </a:r>
            <a:endParaRPr lang="en-US" sz="1600" dirty="0"/>
          </a:p>
        </p:txBody>
      </p:sp>
      <p:sp>
        <p:nvSpPr>
          <p:cNvPr id="13" name="Newspaper"/>
          <p:cNvSpPr/>
          <p:nvPr/>
        </p:nvSpPr>
        <p:spPr>
          <a:xfrm>
            <a:off x="5760720" y="2468880"/>
            <a:ext cx="283464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Newspaper dot"/>
          <p:cNvSpPr/>
          <p:nvPr/>
        </p:nvSpPr>
        <p:spPr>
          <a:xfrm>
            <a:off x="5897880" y="260604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63640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2468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0.0043</a:t>
            </a:r>
            <a:endParaRPr lang="en-US" sz="1600" dirty="0"/>
          </a:p>
        </p:txBody>
      </p:sp>
      <p:sp>
        <p:nvSpPr>
          <p:cNvPr id="17" name="Strongest callout"/>
          <p:cNvSpPr/>
          <p:nvPr/>
        </p:nvSpPr>
        <p:spPr>
          <a:xfrm>
            <a:off x="5760720" y="3154680"/>
            <a:ext cx="283464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0" y="31546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has the strongest estimated positive impact.</a:t>
            </a:r>
            <a:endParaRPr lang="en-US" sz="1400" dirty="0"/>
          </a:p>
        </p:txBody>
      </p:sp>
      <p:sp>
        <p:nvSpPr>
          <p:cNvPr id="19" name="Weakest callout"/>
          <p:cNvSpPr/>
          <p:nvPr/>
        </p:nvSpPr>
        <p:spPr>
          <a:xfrm>
            <a:off x="5760720" y="3931920"/>
            <a:ext cx="283464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0" y="3931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has the weakest estimated impact.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Prediction for Planned Budget</a:t>
            </a:r>
            <a:endParaRPr lang="en-US" sz="3400" dirty="0"/>
          </a:p>
        </p:txBody>
      </p:sp>
      <p:sp>
        <p:nvSpPr>
          <p:cNvPr id="3" name="Planned TV budget"/>
          <p:cNvSpPr/>
          <p:nvPr/>
        </p:nvSpPr>
        <p:spPr>
          <a:xfrm>
            <a:off x="548640" y="128016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Planned TV budget circle"/>
          <p:cNvSpPr/>
          <p:nvPr/>
        </p:nvSpPr>
        <p:spPr>
          <a:xfrm>
            <a:off x="731520" y="1481328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Planned TV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642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TV budget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200" dirty="0"/>
          </a:p>
        </p:txBody>
      </p:sp>
      <p:sp>
        <p:nvSpPr>
          <p:cNvPr id="8" name="Planned Radio budget"/>
          <p:cNvSpPr/>
          <p:nvPr/>
        </p:nvSpPr>
        <p:spPr>
          <a:xfrm>
            <a:off x="3291840" y="128016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Planned Radio budget circle"/>
          <p:cNvSpPr/>
          <p:nvPr/>
        </p:nvSpPr>
        <p:spPr>
          <a:xfrm>
            <a:off x="3474720" y="1481328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Image 1" descr="Planned Radio bud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642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Radio budget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13" name="Planned Newspaper budget"/>
          <p:cNvSpPr/>
          <p:nvPr/>
        </p:nvSpPr>
        <p:spPr>
          <a:xfrm>
            <a:off x="6035040" y="128016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Planned Newspaper budget circle"/>
          <p:cNvSpPr/>
          <p:nvPr/>
        </p:nvSpPr>
        <p:spPr>
          <a:xfrm>
            <a:off x="6217920" y="1481328"/>
            <a:ext cx="731520" cy="731520"/>
          </a:xfrm>
          <a:prstGeom prst="ellipse">
            <a:avLst/>
          </a:prstGeom>
          <a:solidFill>
            <a:srgbClr val="8D8FB5"/>
          </a:solidFill>
          <a:ln/>
        </p:spPr>
      </p:sp>
      <p:pic>
        <p:nvPicPr>
          <p:cNvPr id="15" name="Image 2" descr="Planned Newspaper bud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6420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Newspaper budget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086600" y="1874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200" dirty="0"/>
          </a:p>
        </p:txBody>
      </p:sp>
      <p:sp>
        <p:nvSpPr>
          <p:cNvPr id="18" name="Result card"/>
          <p:cNvSpPr/>
          <p:nvPr/>
        </p:nvSpPr>
        <p:spPr>
          <a:xfrm>
            <a:off x="548640" y="2834640"/>
            <a:ext cx="804672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2960" y="2971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15.04</a:t>
            </a:r>
            <a:endParaRPr lang="en-US" sz="80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SALES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297680" y="3154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Sales = 15.0395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4297680" y="3657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15.04 units of Sales are predicted.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Evaluation</a:t>
            </a:r>
            <a:endParaRPr lang="en-US" sz="3400" dirty="0"/>
          </a:p>
        </p:txBody>
      </p:sp>
      <p:sp>
        <p:nvSpPr>
          <p:cNvPr id="3" name="Mean Squared Error (MSE)"/>
          <p:cNvSpPr/>
          <p:nvPr/>
        </p:nvSpPr>
        <p:spPr>
          <a:xfrm>
            <a:off x="548640" y="128016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2.9078</a:t>
            </a:r>
            <a:endParaRPr lang="en-US" sz="3400" dirty="0"/>
          </a:p>
        </p:txBody>
      </p:sp>
      <p:sp>
        <p:nvSpPr>
          <p:cNvPr id="6" name="Root Mean Squared Error (RMSE)"/>
          <p:cNvSpPr/>
          <p:nvPr/>
        </p:nvSpPr>
        <p:spPr>
          <a:xfrm>
            <a:off x="2606040" y="128016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88920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(RMSE)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1.7052</a:t>
            </a:r>
            <a:endParaRPr lang="en-US" sz="3400" dirty="0"/>
          </a:p>
        </p:txBody>
      </p:sp>
      <p:sp>
        <p:nvSpPr>
          <p:cNvPr id="9" name="Mean Absolute Error (MAE)"/>
          <p:cNvSpPr/>
          <p:nvPr/>
        </p:nvSpPr>
        <p:spPr>
          <a:xfrm>
            <a:off x="4663440" y="128016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1.2748</a:t>
            </a:r>
            <a:endParaRPr lang="en-US" sz="3400" dirty="0"/>
          </a:p>
        </p:txBody>
      </p:sp>
      <p:sp>
        <p:nvSpPr>
          <p:cNvPr id="12" name="R² Score"/>
          <p:cNvSpPr/>
          <p:nvPr/>
        </p:nvSpPr>
        <p:spPr>
          <a:xfrm>
            <a:off x="6720840" y="1280160"/>
            <a:ext cx="187452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417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0.9059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90.59%</a:t>
            </a:r>
            <a:endParaRPr lang="en-US" sz="1400" dirty="0"/>
          </a:p>
        </p:txBody>
      </p:sp>
      <p:sp>
        <p:nvSpPr>
          <p:cNvPr id="16" name="Insight 1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7" name="Insight icon 1 circle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8" name="Image 0" descr="Insigh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508760" y="32004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approximately 90.59% of the variation in Sales in the test dataset.</a:t>
            </a:r>
            <a:endParaRPr lang="en-US" sz="1400" dirty="0"/>
          </a:p>
        </p:txBody>
      </p:sp>
      <p:sp>
        <p:nvSpPr>
          <p:cNvPr id="20" name="Insight 2"/>
          <p:cNvSpPr/>
          <p:nvPr/>
        </p:nvSpPr>
        <p:spPr>
          <a:xfrm>
            <a:off x="4663440" y="32004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1" name="Insight icon 2 circle"/>
          <p:cNvSpPr/>
          <p:nvPr/>
        </p:nvSpPr>
        <p:spPr>
          <a:xfrm>
            <a:off x="4892040" y="3611880"/>
            <a:ext cx="548640" cy="54864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22" name="Image 1" descr="Insigh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74904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623560" y="32004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prediction error is approximately 1.27 Sales units.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Actual Sales vs Predicted Sales</a:t>
            </a:r>
            <a:endParaRPr lang="en-US" sz="3400" dirty="0"/>
          </a:p>
        </p:txBody>
      </p:sp>
      <p:sp>
        <p:nvSpPr>
          <p:cNvPr id="3" name="Scatter card"/>
          <p:cNvSpPr/>
          <p:nvPr/>
        </p:nvSpPr>
        <p:spPr>
          <a:xfrm>
            <a:off x="548640" y="1280160"/>
            <a:ext cx="493776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pic>
        <p:nvPicPr>
          <p:cNvPr id="4" name="Image 0" descr="Scatter plot of actual versus predicted Sales with a diagonal reference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663440" cy="3108960"/>
          </a:xfrm>
          <a:prstGeom prst="rect">
            <a:avLst/>
          </a:prstGeom>
        </p:spPr>
      </p:pic>
      <p:sp>
        <p:nvSpPr>
          <p:cNvPr id="5" name="Note 1"/>
          <p:cNvSpPr/>
          <p:nvPr/>
        </p:nvSpPr>
        <p:spPr>
          <a:xfrm>
            <a:off x="5760720" y="1280160"/>
            <a:ext cx="2834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6" name="Note icon 1 circle"/>
          <p:cNvSpPr/>
          <p:nvPr/>
        </p:nvSpPr>
        <p:spPr>
          <a:xfrm>
            <a:off x="5897880" y="1536192"/>
            <a:ext cx="493776" cy="493776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7" name="Image 1" descr="Note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1659636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37960" y="12801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closer to the diagonal reference line indicate more accurate predictions.</a:t>
            </a:r>
            <a:endParaRPr lang="en-US" sz="1400" dirty="0"/>
          </a:p>
        </p:txBody>
      </p:sp>
      <p:sp>
        <p:nvSpPr>
          <p:cNvPr id="9" name="Note 2"/>
          <p:cNvSpPr/>
          <p:nvPr/>
        </p:nvSpPr>
        <p:spPr>
          <a:xfrm>
            <a:off x="5760720" y="2423160"/>
            <a:ext cx="2834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0" name="Note icon 2 circle"/>
          <p:cNvSpPr/>
          <p:nvPr/>
        </p:nvSpPr>
        <p:spPr>
          <a:xfrm>
            <a:off x="5897880" y="2679192"/>
            <a:ext cx="493776" cy="49377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Note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4" y="2802636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37960" y="24231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are reasonably close to the line.</a:t>
            </a:r>
            <a:endParaRPr lang="en-US" sz="1400" dirty="0"/>
          </a:p>
        </p:txBody>
      </p:sp>
      <p:sp>
        <p:nvSpPr>
          <p:cNvPr id="13" name="Note 3"/>
          <p:cNvSpPr/>
          <p:nvPr/>
        </p:nvSpPr>
        <p:spPr>
          <a:xfrm>
            <a:off x="5760720" y="3566160"/>
            <a:ext cx="2834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Note icon 3 circle"/>
          <p:cNvSpPr/>
          <p:nvPr/>
        </p:nvSpPr>
        <p:spPr>
          <a:xfrm>
            <a:off x="5897880" y="3822192"/>
            <a:ext cx="493776" cy="493776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5" name="Image 3" descr="Note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324" y="3945636"/>
            <a:ext cx="246888" cy="2468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37960" y="35661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the strong R² score of 0.9059.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Recommendation</a:t>
            </a:r>
            <a:endParaRPr lang="en-US" sz="3400" dirty="0"/>
          </a:p>
        </p:txBody>
      </p:sp>
      <p:sp>
        <p:nvSpPr>
          <p:cNvPr id="3" name="Recommendation 1"/>
          <p:cNvSpPr/>
          <p:nvPr/>
        </p:nvSpPr>
        <p:spPr>
          <a:xfrm>
            <a:off x="548640" y="128016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Recommendation icon 1 circle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Recommendat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Radio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803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prioritizing Radio advertising because it has the highest estimated regression coefficient (0.1009).</a:t>
            </a:r>
            <a:endParaRPr lang="en-US" sz="1400" dirty="0"/>
          </a:p>
        </p:txBody>
      </p:sp>
      <p:sp>
        <p:nvSpPr>
          <p:cNvPr id="8" name="Recommendation 2"/>
          <p:cNvSpPr/>
          <p:nvPr/>
        </p:nvSpPr>
        <p:spPr>
          <a:xfrm>
            <a:off x="3291840" y="128016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Recommendation icon 2 circle"/>
          <p:cNvSpPr/>
          <p:nvPr/>
        </p:nvSpPr>
        <p:spPr>
          <a:xfrm>
            <a:off x="3520440" y="1508760"/>
            <a:ext cx="731520" cy="73152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10" name="Image 1" descr="Recommendat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first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8803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evaluating advertising cost, audience reach, campaign performance, and return on investment before changing the final budget.</a:t>
            </a:r>
            <a:endParaRPr lang="en-US" sz="1400" dirty="0"/>
          </a:p>
        </p:txBody>
      </p:sp>
      <p:sp>
        <p:nvSpPr>
          <p:cNvPr id="13" name="Recommendation 3"/>
          <p:cNvSpPr/>
          <p:nvPr/>
        </p:nvSpPr>
        <p:spPr>
          <a:xfrm>
            <a:off x="6035040" y="128016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Recommendation icon 3 circle"/>
          <p:cNvSpPr/>
          <p:nvPr/>
        </p:nvSpPr>
        <p:spPr>
          <a:xfrm>
            <a:off x="6263640" y="150876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2" descr="Recommendat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91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88036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as a decision-support tool rather than the only basis for budget allocation.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Technical Recommendation</a:t>
            </a:r>
            <a:endParaRPr lang="en-US" sz="3400" dirty="0"/>
          </a:p>
        </p:txBody>
      </p:sp>
      <p:sp>
        <p:nvSpPr>
          <p:cNvPr id="3" name="Technical step 1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Technical icon 1 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rgbClr val="6C63FF"/>
          </a:solidFill>
          <a:ln/>
        </p:spPr>
      </p:sp>
      <p:pic>
        <p:nvPicPr>
          <p:cNvPr id="5" name="Image 0" descr="Technical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 instead of relying on only one train-test split.</a:t>
            </a:r>
            <a:endParaRPr lang="en-US" sz="1400" dirty="0"/>
          </a:p>
        </p:txBody>
      </p:sp>
      <p:sp>
        <p:nvSpPr>
          <p:cNvPr id="8" name="Technical step 2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9" name="Technical icon 2 circle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0" name="Image 1" descr="Technical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models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745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alternative models such as Ridge Regression, Lasso Regression, and Polynomial Regression.</a:t>
            </a:r>
            <a:endParaRPr lang="en-US" sz="1400" dirty="0"/>
          </a:p>
        </p:txBody>
      </p:sp>
      <p:sp>
        <p:nvSpPr>
          <p:cNvPr id="13" name="Technical step 3"/>
          <p:cNvSpPr/>
          <p:nvPr/>
        </p:nvSpPr>
        <p:spPr>
          <a:xfrm>
            <a:off x="54864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4" name="Technical icon 3 circle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2" descr="Technical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061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settings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model settings and compare validation performance.</a:t>
            </a:r>
            <a:endParaRPr lang="en-US" sz="1400" dirty="0"/>
          </a:p>
        </p:txBody>
      </p:sp>
      <p:sp>
        <p:nvSpPr>
          <p:cNvPr id="18" name="Technical step 4"/>
          <p:cNvSpPr/>
          <p:nvPr/>
        </p:nvSpPr>
        <p:spPr>
          <a:xfrm>
            <a:off x="466344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9" name="Technical icon 4 circle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20" name="Image 3" descr="Technical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061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best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611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model that generalizes best to unseen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Conclusion row 1"/>
          <p:cNvSpPr/>
          <p:nvPr/>
        </p:nvSpPr>
        <p:spPr>
          <a:xfrm>
            <a:off x="548640" y="1280160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4" name="Check circle 1"/>
          <p:cNvSpPr/>
          <p:nvPr/>
        </p:nvSpPr>
        <p:spPr>
          <a:xfrm>
            <a:off x="713232" y="138074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Check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72184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Multiple Linear Regression model was successfully developed for Sales prediction.</a:t>
            </a:r>
            <a:endParaRPr lang="en-US" sz="1500" dirty="0"/>
          </a:p>
        </p:txBody>
      </p:sp>
      <p:sp>
        <p:nvSpPr>
          <p:cNvPr id="7" name="Conclusion row 2"/>
          <p:cNvSpPr/>
          <p:nvPr/>
        </p:nvSpPr>
        <p:spPr>
          <a:xfrm>
            <a:off x="548640" y="1956816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8" name="Check circle 2"/>
          <p:cNvSpPr/>
          <p:nvPr/>
        </p:nvSpPr>
        <p:spPr>
          <a:xfrm>
            <a:off x="713232" y="20574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Check 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488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195681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has the strongest estimated impact, while Newspaper has the weakest.</a:t>
            </a:r>
            <a:endParaRPr lang="en-US" sz="1500" dirty="0"/>
          </a:p>
        </p:txBody>
      </p:sp>
      <p:sp>
        <p:nvSpPr>
          <p:cNvPr id="11" name="Conclusion row 3"/>
          <p:cNvSpPr/>
          <p:nvPr/>
        </p:nvSpPr>
        <p:spPr>
          <a:xfrm>
            <a:off x="548640" y="2633472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2" name="Check circle 3"/>
          <p:cNvSpPr/>
          <p:nvPr/>
        </p:nvSpPr>
        <p:spPr>
          <a:xfrm>
            <a:off x="713232" y="27340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Check 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82549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63347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TV = 150, Radio = 20, and Newspaper = 30, predicted Sales = 15.04.</a:t>
            </a:r>
            <a:endParaRPr lang="en-US" sz="1500" dirty="0"/>
          </a:p>
        </p:txBody>
      </p:sp>
      <p:sp>
        <p:nvSpPr>
          <p:cNvPr id="15" name="Conclusion row 4"/>
          <p:cNvSpPr/>
          <p:nvPr/>
        </p:nvSpPr>
        <p:spPr>
          <a:xfrm>
            <a:off x="548640" y="3310128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16" name="Check circle 4"/>
          <p:cNvSpPr/>
          <p:nvPr/>
        </p:nvSpPr>
        <p:spPr>
          <a:xfrm>
            <a:off x="713232" y="34107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Check 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50215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3101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achieved R² = 0.9059 with MAE = 1.2748.</a:t>
            </a:r>
            <a:endParaRPr lang="en-US" sz="1500" dirty="0"/>
          </a:p>
        </p:txBody>
      </p:sp>
      <p:sp>
        <p:nvSpPr>
          <p:cNvPr id="19" name="Conclusion row 5"/>
          <p:cNvSpPr/>
          <p:nvPr/>
        </p:nvSpPr>
        <p:spPr>
          <a:xfrm>
            <a:off x="548640" y="3986784"/>
            <a:ext cx="804672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/>
        </p:spPr>
      </p:sp>
      <p:sp>
        <p:nvSpPr>
          <p:cNvPr id="20" name="Check circle 5"/>
          <p:cNvSpPr/>
          <p:nvPr/>
        </p:nvSpPr>
        <p:spPr>
          <a:xfrm>
            <a:off x="713232" y="408736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Check mar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178808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98678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can support advertising budget planning and sales forecasting.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Results at a Glance</a:t>
            </a:r>
            <a:endParaRPr lang="en-US" sz="3400" dirty="0"/>
          </a:p>
        </p:txBody>
      </p:sp>
      <p:sp>
        <p:nvSpPr>
          <p:cNvPr id="3" name="Dataset"/>
          <p:cNvSpPr/>
          <p:nvPr/>
        </p:nvSpPr>
        <p:spPr>
          <a:xfrm>
            <a:off x="5486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4" name="Dataset dot"/>
          <p:cNvSpPr/>
          <p:nvPr/>
        </p:nvSpPr>
        <p:spPr>
          <a:xfrm>
            <a:off x="731520" y="1481328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13898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records</a:t>
            </a:r>
            <a:endParaRPr lang="en-US" sz="1800" dirty="0"/>
          </a:p>
        </p:txBody>
      </p:sp>
      <p:sp>
        <p:nvSpPr>
          <p:cNvPr id="7" name="Model"/>
          <p:cNvSpPr/>
          <p:nvPr/>
        </p:nvSpPr>
        <p:spPr>
          <a:xfrm>
            <a:off x="26060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8" name="Model dot"/>
          <p:cNvSpPr/>
          <p:nvPr/>
        </p:nvSpPr>
        <p:spPr>
          <a:xfrm>
            <a:off x="2788920" y="1481328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81528" y="13898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1800" dirty="0"/>
          </a:p>
        </p:txBody>
      </p:sp>
      <p:sp>
        <p:nvSpPr>
          <p:cNvPr id="11" name="Strongest medium"/>
          <p:cNvSpPr/>
          <p:nvPr/>
        </p:nvSpPr>
        <p:spPr>
          <a:xfrm>
            <a:off x="46634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2" name="Strongest medium dot"/>
          <p:cNvSpPr/>
          <p:nvPr/>
        </p:nvSpPr>
        <p:spPr>
          <a:xfrm>
            <a:off x="4846320" y="148132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38928" y="13898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medium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(0.1009)</a:t>
            </a:r>
            <a:endParaRPr lang="en-US" sz="1800" dirty="0"/>
          </a:p>
        </p:txBody>
      </p:sp>
      <p:sp>
        <p:nvSpPr>
          <p:cNvPr id="15" name="Weakest medium"/>
          <p:cNvSpPr/>
          <p:nvPr/>
        </p:nvSpPr>
        <p:spPr>
          <a:xfrm>
            <a:off x="6720840" y="128016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16" name="Weakest medium dot"/>
          <p:cNvSpPr/>
          <p:nvPr/>
        </p:nvSpPr>
        <p:spPr>
          <a:xfrm>
            <a:off x="6903720" y="14813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96328" y="13898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medium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Newspaper (0.0043)</a:t>
            </a:r>
            <a:endParaRPr lang="en-US" sz="1800" dirty="0"/>
          </a:p>
        </p:txBody>
      </p:sp>
      <p:sp>
        <p:nvSpPr>
          <p:cNvPr id="19" name="Planned-budget prediction"/>
          <p:cNvSpPr/>
          <p:nvPr/>
        </p:nvSpPr>
        <p:spPr>
          <a:xfrm>
            <a:off x="5486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0" name="Planned-budget prediction dot"/>
          <p:cNvSpPr/>
          <p:nvPr/>
        </p:nvSpPr>
        <p:spPr>
          <a:xfrm>
            <a:off x="731520" y="321868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4128" y="3127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Planned-budget prediction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15.04 Sales units</a:t>
            </a:r>
            <a:endParaRPr lang="en-US" sz="1800" dirty="0"/>
          </a:p>
        </p:txBody>
      </p:sp>
      <p:sp>
        <p:nvSpPr>
          <p:cNvPr id="23" name="MAE"/>
          <p:cNvSpPr/>
          <p:nvPr/>
        </p:nvSpPr>
        <p:spPr>
          <a:xfrm>
            <a:off x="26060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4" name="MAE dot"/>
          <p:cNvSpPr/>
          <p:nvPr/>
        </p:nvSpPr>
        <p:spPr>
          <a:xfrm>
            <a:off x="2788920" y="3218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081528" y="3127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1.2748</a:t>
            </a:r>
            <a:endParaRPr lang="en-US" sz="2800" dirty="0"/>
          </a:p>
        </p:txBody>
      </p:sp>
      <p:sp>
        <p:nvSpPr>
          <p:cNvPr id="27" name="RMSE"/>
          <p:cNvSpPr/>
          <p:nvPr/>
        </p:nvSpPr>
        <p:spPr>
          <a:xfrm>
            <a:off x="46634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28" name="RMSE dot"/>
          <p:cNvSpPr/>
          <p:nvPr/>
        </p:nvSpPr>
        <p:spPr>
          <a:xfrm>
            <a:off x="4846320" y="3218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38928" y="3127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1.7052</a:t>
            </a:r>
            <a:endParaRPr lang="en-US" sz="2800" dirty="0"/>
          </a:p>
        </p:txBody>
      </p:sp>
      <p:sp>
        <p:nvSpPr>
          <p:cNvPr id="31" name="R²"/>
          <p:cNvSpPr/>
          <p:nvPr/>
        </p:nvSpPr>
        <p:spPr>
          <a:xfrm>
            <a:off x="6720840" y="3017520"/>
            <a:ext cx="1874520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38100" dir="5400000">
              <a:srgbClr val="1A1A2E">
                <a:alpha val="12000"/>
              </a:srgbClr>
            </a:outerShdw>
          </a:effectLst>
        </p:spPr>
      </p:sp>
      <p:sp>
        <p:nvSpPr>
          <p:cNvPr id="32" name="R² dot"/>
          <p:cNvSpPr/>
          <p:nvPr/>
        </p:nvSpPr>
        <p:spPr>
          <a:xfrm>
            <a:off x="6903720" y="321868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96328" y="3127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0.9059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Signal">
  <a:themeElements>
    <a:clrScheme name="Ad Signal">
      <a:dk1>
        <a:srgbClr val="1A1A2E"/>
      </a:dk1>
      <a:lt1>
        <a:srgbClr val="FFFFFF"/>
      </a:lt1>
      <a:dk2>
        <a:srgbClr val="2A2B5E"/>
      </a:dk2>
      <a:lt2>
        <a:srgbClr val="F6F5FB"/>
      </a:lt2>
      <a:accent1>
        <a:srgbClr val="FF6B4A"/>
      </a:accent1>
      <a:accent2>
        <a:srgbClr val="2EC4B6"/>
      </a:accent2>
      <a:accent3>
        <a:srgbClr val="FFB703"/>
      </a:accent3>
      <a:accent4>
        <a:srgbClr val="6C63FF"/>
      </a:accent4>
      <a:accent5>
        <a:srgbClr val="8D8FB5"/>
      </a:accent5>
      <a:accent6>
        <a:srgbClr val="3A3D7A"/>
      </a:accent6>
      <a:hlink>
        <a:srgbClr val="6C63FF"/>
      </a:hlink>
      <a:folHlink>
        <a:srgbClr val="8D8FB5"/>
      </a:folHlink>
    </a:clrScheme>
    <a:fontScheme name="Ad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Advertising Sales Prediction — Multiple Linear Regression</dc:title>
  <dc:subject>PptxGenJS Presentation</dc:subject>
  <dc:creator>PptxGenJS</dc:creator>
  <cp:lastModifiedBy>PptxGenJS</cp:lastModifiedBy>
  <cp:revision>1</cp:revision>
  <dcterms:created xsi:type="dcterms:W3CDTF">2026-10-08T06:50:58Z</dcterms:created>
  <dcterms:modified xsi:type="dcterms:W3CDTF">2026-10-08T06:50:58Z</dcterms:modified>
</cp:coreProperties>
</file>